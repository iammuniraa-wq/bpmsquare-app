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features, each paired with a how-to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Day-to-day work lives under the Workforce sidebar group; all configuration lives under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 in, break, punch out — Attendance is captured as individual punch events. Nothing is ever edited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 in, break, punch out. Path: Workforce &gt; My Workforce &gt; Home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 types: OT, mobile work, trips — Extra punch types sit in a dropdown next to the main button — only the ones your workspace switches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Punch types: OT, mobile work, trips. Path: Settings &gt; Workforce &gt; General &gt; Punch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Overtime — record and approve — Overtime is a separate session, punched after checking out, and paid only once a supervisor approves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Overtime — record and approve. Path: Workforce &gt; Corrections &gt; Overtime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timeline — One calendar month per page, each day drawn as a horizontal bar against a time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Monthly timeline. Path: Workforce &gt; My Workforce &gt; Timeline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for leave — Pick dates by dragging across a calendar rather than typing two dates into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Apply for leave. Path: Workforce &gt; My Workforce &gt; Leave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approval and records — Approving a request writes a real leave record. That record, not the request, moves the balance.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Leave approval and records. Path: Workforce &gt; Leave &amp; Holidays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corrections — Employees ask for a fix. Only a supervisor's approval actually changes attendance.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Attendance corrections. Path: Workforce &gt; Corrections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Recheck requests — The reverse direction — a supervisor flags a punch and asks the employee to explain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Recheck requests. Path: Workforce &gt; Corrections &gt; Recheck requests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Roster and shift planning — Bulk shift and site planning layered on top of everyone's standing shift.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Roster and shift planning. Path: Workforce &gt; Roster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board — Who is in, who is late and who has not arrived — for today, at a glance.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Live board. Path: Workforce &gt; Live board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sees and approves what — Each site has one supervisor, and they handle that site's people — nobody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Who sees and approves what. Path: Settings &gt; Workforce &gt; Sites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Employees and the Employee Hub — The people master, plus one page that gathers everything about a single employee.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Employees and the Employee Hub. Path: Workforce &gt; Employees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Monthly summary and Excel export — The whole month, per employee, in the shape the accountant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Monthly summary and Excel export. Path: Workforce &gt; Monthly Summary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Shifts and sites — Working hours, and the physical places where a punch is considered on-site.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Shifts and sites. Path: Settings &gt; Workforce &gt; Shifts / Sites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types and holidays — What people are allowed to take, and the days on which nobody is marked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Leave types and holidays. Path: Settings &gt; Workforce &gt; Leave Types / Holidays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Attendance rules and notifications — The workspace-wide switches that decide how hours are counted and who gets told.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to: Attendance rules and notifications. Path: Settings &gt; Workforce &gt; General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follows the site you are assigned to, per date. Nobody approves their own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here; the API reference and Postman collection cover the machine-facing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BPMSQUARE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Management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971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feature, and exactly where to find it.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4754880" cy="1371600"/>
          </a:xfrm>
          <a:prstGeom prst="roundRect">
            <a:avLst>
              <a:gd name="adj" fmla="val 5333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97764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2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deck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slide is followed by a how-to slide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the exact navigation path and the steps.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EVERYTHING LIVES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places, split by who you are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› Workforce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Day-to-day work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4203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82112" y="254203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272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82112" y="312724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71246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82112" y="3712464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82112" y="4297680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82896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8828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82112" y="4882896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46811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681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Holidays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82112" y="546811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605332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605332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82112" y="605332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157276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1572768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› Workforce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admin only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55080" y="2542032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988552" y="2542032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punch types, OT rate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55080" y="3127248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1272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988552" y="3127248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+ who supervises each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3712464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371246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988552" y="3712464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grace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55080" y="4297680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8988552" y="4297680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and quotas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355080" y="4882896"/>
            <a:ext cx="5486400" cy="512064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9400" y="48828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988552" y="4882896"/>
            <a:ext cx="2633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calendar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in, break, punch out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captured as individual punch events. Nothing is ever edited in place.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always shows your only legal next 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selfie and GPS position attached to each punch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— queued punches sync when signal returns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in, break, punch out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from the sidebar.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the one-time consent prompt — punching is blocked until you do.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Check in. Allow location if your workspace uses geofencing.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Break and End break during the day, then Check out when you leave.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Check in isn't offered, you are already checked in — the button never shows an illegal action.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types: OT, mobile work, trips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punch types sit in a dropdown next to the main button — only the ones your workspace switches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in / OT out — overtime as its own paid session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 and Business trip — ordinary hours, labelled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disabled type is refused by the server, not merely hidden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enables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uses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types: OT, mobile work, trips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types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and stay on the General tab.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to Punch types and switch on the ones this client uses.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OT rate per hour in the same tab. Zero means hours are tracked but no cost is computed.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Save. The dropdown appears for every employee immediately.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Overtime before asking anyone to punch it — the API rejects a disabled punch type.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— record and approve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a separate session, punched after checking out, and paid only once a supervisor approves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cannot start while checked in — structurally prevented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minutes, no rounding, at a flat rate per hour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all-night block stays on the day it started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punches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 +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— record and approve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checks OUT of the regular shift first — this is required.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picks OT in from the punch dropdown, then OT out when finished.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opens Workforce → Corrections → Overtime tab.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date, duration and +1d marker, then Approve or Reject.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remark is mandatory to reject. Pending and rejected overtime is visible everywhere but counted nowhere.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timeline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calendar month per page, each day drawn as a horizontal bar against a time axis.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break and overtime shown as separate bands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overtime is faded and dashed until approved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day to open its detail and file a correction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timeline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and choose the Timeline tab.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month arrows to move between months.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day's bar to open the detail popup.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“Request a correction for this day” if something is wrong.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Faded, dashed bands mean overtime that is still waiting for supervisor approval.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leave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dates by dragging across a calendar rather than typing two dates into boxes.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single day, or drag across a range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Holidays, week-offs and existing leave are marked before you submit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day appears only when the from and to dates match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leave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My Workforce → Leave. Your requests are the first thing you see.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+ Request leave, then drag across the days you want.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leave type and write a reason.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— it reaches your supervisor as Pending.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sit behind the Leave balance toggle — open it for the chart, or read the totals on the row itself.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and records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request writes a real leave record. That record, not the request, moves the balance.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queue with one-click approve or reject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can also enter leave directly, with no request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always requires a written remark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and records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Holidays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Leave &amp; Holidays.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the list to Pending.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 each request — a remark is required to reject.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Leave records below to add or remove leave directly.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 suppresses late and absent marks for every day it covers.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corrections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ask for a fix. Only a supervisor's approval actually changes attendance.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check-in, missing check-out, wrong time, or other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adds a new event and supersedes the old one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time must fall on the day being corrected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files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approves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EMPLOYEE +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corrections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opens My Workforce → Time, or a day in the Timeline.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the correction with the proposed time and a reason.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opens Workforce → Corrections.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Reject, with a remark.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changes nothing — attendance moves only on approval. A “wrong time” correction now moves the punch it names; previously it was approved but changed nothing.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requests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 direction — a supervisor flags a punch and asks the employee to explain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single punch or an entire day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time, the selfie, or both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replies; a real fix still needs a correction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flags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responds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requests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requests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Corrections → Recheck requests.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employee, the date, and what to recheck.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message and send — the employee is emailed.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replies from My Workforce; you then resolve or dismiss it.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recheck never alters attendance by itself — it only opens the conversation.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and shift planning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shift and site planning layered on top of everyone's standing shift.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many employees across many dates in one action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days off — no lateness or absence is marked on those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roster now decides who counts as late, not the standing shift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and shift planning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Roster.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employees, then tick the dates.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shift, or mark the days as Day off, and optionally a site.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— any existing entry for those dates is overwritten.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someone onto a different shift and lateness follows it the same day. Limits per action: 500 employees, 62 dates, 3000 combinations.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in, who is late and who has not arrived — for today, at a glance.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first in and last out for every employee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and absent computed against the shift and its grace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flags surfaced on the row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Live board.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it open — it refreshes roughly every 30 seconds on its own.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row to see that person's punches, selfies and map positions.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to catch a missing check-out before it turns into a correction request.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and approves what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has one supervisor, and they handle that site's people — nobody else's.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approver is whoever runs the site you're assigned 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site next month and approvals follow, with no re-mapping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sees every site beneath them, and their supervisors too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sets it up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is scoped by it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and approves what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Workforce → Sites. Edit each site and name its supervisor.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→ Employees. Open each supervisor and set THEIR supervisor — the manager.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whole hierarchy. Queues, board, summary and analytics all follow it.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you name as a site supervisor is given supervisor access automatically.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approve their own request — it always goes to the person above them, admins included.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and the Employee Hub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master, plus one page that gathers everything about a single employee.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are generated — leave the field blank for the next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Shift, site, reporting supervisor and employment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shows month totals, leave balance and direct reports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 +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and the Employee Hub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Employees. + New employee opens its own page.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Code blank to get the next EMP-#### , or type your own scheme.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shift, site, supervisor and employment type.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login action to issue an email address and initial password.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typed code that already exists is refused rather than overwritten. The employee must change the initial password at first sign-in.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month, per employee, in the shape the accountant actually needs.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present, working hours, late marks and leave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overtime hours and the resulting OT amount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sheet per employment type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SUPERVISOR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Workforce → Monthly Summary.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month.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site or employment type if you need a subset.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Excel export for the accountant.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 overtime reaches the OT Hours and OT Amount columns.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and sites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hours, and the physical places where a punch is considered on-site.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start, end, grace minutes and night allowance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picked on a map with a geofence radius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mode: block the punch, flag it, or ignore location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and sites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/ Sites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Workforce. Add and Edit each open their own page.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tab — add the start time, end time and grace minutes.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tab — set the pin, the radius, and the site's supervisor.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tab — choose the geofence mode for the whole workspace.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left without a supervisor has nobody to approve its people — the screen warns you by name until you fix it.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and holidays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are allowed to take, and the days on which nobody is marked absent.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are paid, unpaid or half day, each with an annual quota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apply to everyone, or to one employment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the leave calendar and the monthly summary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and holidays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 / Holidays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→ Leave Types.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type, its category and the annual quota.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Holidays tab and add the date, name and audience.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appear on every employee's leave calendar immediately.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Deactivate a leave type rather than deleting it — existing records still point at it.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 and notifications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workspace-wide switches that decide how hours are counted and who gets told.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7020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7020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5420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Timezone, break deduction, late marks per half-day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164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6164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34564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types are your own list, not a fixed set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15968"/>
            <a:ext cx="7680960" cy="786384"/>
          </a:xfrm>
          <a:prstGeom prst="roundRect">
            <a:avLst>
              <a:gd name="adj" fmla="val 9302"/>
            </a:avLst>
          </a:prstGeom>
          <a:solidFill>
            <a:srgbClr val="F3F5F7"/>
          </a:solidFill>
          <a:ln w="12700">
            <a:solidFill>
              <a:srgbClr val="F3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530852"/>
            <a:ext cx="356616" cy="356616"/>
          </a:xfrm>
          <a:prstGeom prst="ellipse">
            <a:avLst/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4530852"/>
            <a:ext cx="3566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437083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alerts for late arrival, corrections, leave and rechecks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549640" y="2487168"/>
            <a:ext cx="3063240" cy="2322576"/>
          </a:xfrm>
          <a:prstGeom prst="roundRect">
            <a:avLst>
              <a:gd name="adj" fmla="val 315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9652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796528" y="3127248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 — 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rules and notifications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pPr indent="0" marL="0">
              <a:buNone/>
            </a:pPr>
            <a:r>
              <a:rPr lang="en-US" sz="1500" dirty="0">
                <a:solidFill>
                  <a:srgbClr val="F6C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›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70432" y="2450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→ Workforce → General.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" y="3090672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540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timezone, break deduction and weekly off days.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5216" y="3694176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employment types — add Intern, Contractor and so 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5216" y="42976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2611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the four email notifications on or off.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 </a:t>
            </a:r>
            <a:pPr indent="0" marL="0">
              <a:buNone/>
            </a:pPr>
            <a:r>
              <a:rPr lang="en-US" sz="130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rename an employment type code once employees use it — the Excel export groups its sheets by that code.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do what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server, not just hidden in the interface.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0E1A28"/>
          </a:solidFill>
          <a:ln w="12700">
            <a:solidFill>
              <a:srgbClr val="0E1A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2356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0866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supervisor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1540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378440" y="18745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38658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86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Punch, own timesheet, apply for leave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23560" y="23865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86600" y="23865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15400" y="23865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378440" y="23865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89864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8986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people at the site(s) you supervise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23560" y="2898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86600" y="2898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15400" y="28986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78440" y="2898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41071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41071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site you don't supervise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2356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34107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1540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Yes*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78440" y="34107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922776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227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overtime, corrections and leave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23560" y="39227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86600" y="39227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15400" y="39227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78440" y="39227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43484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434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your OWN request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62356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86600" y="4434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15400" y="44348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378440" y="44348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4946904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469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roster, manage employees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23560" y="49469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086600" y="4946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915400" y="49469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378440" y="49469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48640" y="5458968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545896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and Excel export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23560" y="54589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86600" y="5458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15400" y="54589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0378440" y="54589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97103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9DEE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971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sites, leave types, attendance rules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623560" y="5971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086600" y="5971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915400" y="5971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378440" y="59710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48640" y="6556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A manager reaches only the sites beneath them — not another manager's branch. A tenant admin sits above the whole tree.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worth remembering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307238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78892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never edited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adds a new event and supersedes the old one, so the history always survives.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416966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388620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separate, and approved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out of the shift first. Nothing reaches pay until a supervisor approves it.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B2C3F"/>
          </a:solidFill>
          <a:ln w="12700">
            <a:solidFill>
              <a:srgbClr val="1B2C3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5266944"/>
            <a:ext cx="402336" cy="402336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5266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4983480"/>
            <a:ext cx="9875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handle your own site</a:t>
            </a:r>
            <a:endParaRPr lang="en-US" sz="16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6D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site has one supervisor; a manager covers the sites beneath them. Nobody approves their own request.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BPMSquare — Workforce Management</dc:title>
  <dc:subject>PptxGenJS Presentation</dc:subject>
  <dc:creator>BPMSquare</dc:creator>
  <cp:lastModifiedBy>BPMSquare</cp:lastModifiedBy>
  <cp:revision>1</cp:revision>
  <dcterms:created xsi:type="dcterms:W3CDTF">2026-08-13T06:07:08Z</dcterms:created>
  <dcterms:modified xsi:type="dcterms:W3CDTF">2026-08-13T06:07:08Z</dcterms:modified>
</cp:coreProperties>
</file>