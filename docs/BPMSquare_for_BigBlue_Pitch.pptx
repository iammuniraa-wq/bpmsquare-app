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3466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Blue: Doha, est. 2012, ISO 9001:2015. Specialist supplier of structural engineering products (SS rebars, dowel bars, PTFE bearings, expansion joints, connectors, fasteners, safety gear) to oil &amp; gas, buildings, infrastructure, airports and stadiums. Projects: North Field Expansion, Hamad International Airport, Al Khor Expressway, Doha Metro. Open with their world, not 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BPMSquare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for enquiries, quotes, pricing, projects and people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063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specialist suppliers who quote engineered products by the tonne, the metre and the project.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480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7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Blue – Engineering Solutions · Doha, Qatar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specialist supplier's day, as we understand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Enquiries from contractors and consultants, per project. Quantities that move the price. Manufacturers abroad. Tenders with deadlines.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457200" cy="457200"/>
          </a:xfrm>
          <a:prstGeom prst="ellipse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8928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7647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quote is the product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03911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contractor sends a BOQ for rebars and dowels; the price depends on grade, quantity, freight and today's manufacturer cost. Every hour it takes is an hour the competitor has.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783080"/>
            <a:ext cx="457200" cy="457200"/>
          </a:xfrm>
          <a:prstGeom prst="ellipse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89280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7647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tenders are live?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203911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Field, an expressway package, a metro station — each with a value, a deadline and an owner. Today that picture lives in inboxes.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06324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3291840"/>
            <a:ext cx="457200" cy="457200"/>
          </a:xfrm>
          <a:prstGeom prst="ellipse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4015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3273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item, quoted many ways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280160" y="354787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SS dowel goes to five contractors at five prices. Consistency, margin and history are hard to keep by hand.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63440" y="306324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92040" y="3291840"/>
            <a:ext cx="457200" cy="457200"/>
          </a:xfrm>
          <a:prstGeom prst="ellipse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40156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86400" y="3273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in the yard and on site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0" y="354787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and site teams to roster, overtime to approve, attendance to close every month.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BPMSquare · Business OS  ·  prepared for Big Blue, Doha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workspace, everything joined 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modules Big Blue would use on day one. Same customers, products, suppliers and history throughout.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152233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9385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8013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pipeline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4048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tender and enquiry by stage, value and owner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60020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152233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8288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193852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69080" y="18013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4048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 to quote in minutes — options, quantity offers, PDF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60020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152233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63640" y="18288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93852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58000" y="18013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engine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263640" y="24048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Landed cost + margin, per product, with guardrails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10896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152233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85800" y="33375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344728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80160" y="33101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suppliers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85800" y="39136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Catalogue, datasheets, costs, manufacturer RFQs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46120" y="310896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152233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474720" y="33375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448" y="3447288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069080" y="33101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3474720" y="39136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app, rosters, overtime, monthly close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35040" y="310896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152233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63640" y="33375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368" y="3447288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58000" y="33101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AI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6263640" y="39136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lines, ask your data, timeline on every record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BPMSquare · Business OS  ·  prepared for Big Blue, Doha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Inquiry to a quote they can 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how engineered products are actually bought: by quantity, with alternatives, against a spec.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/ BOQ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1901952" y="1600200"/>
            <a:ext cx="219456" cy="2194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48840" y="1463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48840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on the board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3593592" y="1600200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840480" y="1463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840480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5285232" y="1600200"/>
            <a:ext cx="219456" cy="21945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532120" y="1463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5532120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&amp; e-mail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6976872" y="1600200"/>
            <a:ext cx="219456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223760" y="1463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7223760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395728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051560" y="22677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BOQ becomes line items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1051560" y="254203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contractor's BOQ; one click reads it, matches products by code, and asks whether to replace, append or skip duplicates.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4663440" y="2286000"/>
            <a:ext cx="457200" cy="457200"/>
          </a:xfrm>
          <a:prstGeom prst="ellipse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395728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257800" y="22677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offers to upsell</a:t>
            </a:r>
            <a:endParaRPr lang="en-US" sz="1400" dirty="0"/>
          </a:p>
        </p:txBody>
      </p:sp>
      <p:sp>
        <p:nvSpPr>
          <p:cNvPr id="25" name="Text 17"/>
          <p:cNvSpPr txBox="1"/>
          <p:nvPr/>
        </p:nvSpPr>
        <p:spPr>
          <a:xfrm>
            <a:off x="5257800" y="254203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"500 m · 2,000 m · 10,000 m" on one line, each at its own rate. You tick which offers print. Breaks come from the product itself.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584448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051560" y="34564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the customer chooses</a:t>
            </a:r>
            <a:endParaRPr lang="en-US" sz="1400" dirty="0"/>
          </a:p>
        </p:txBody>
      </p:sp>
      <p:sp>
        <p:nvSpPr>
          <p:cNvPr id="29" name="Text 20"/>
          <p:cNvSpPr txBox="1"/>
          <p:nvPr/>
        </p:nvSpPr>
        <p:spPr>
          <a:xfrm>
            <a:off x="1051560" y="373075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dowel vs epoxy-coated, grade A vs grade B — as options on one quote; only the chosen one is charged.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4663440" y="3474720"/>
            <a:ext cx="457200" cy="457200"/>
          </a:xfrm>
          <a:prstGeom prst="ellipse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584448"/>
            <a:ext cx="237744" cy="237744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5257800" y="34564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of every quote</a:t>
            </a:r>
            <a:endParaRPr lang="en-US" sz="1400" dirty="0"/>
          </a:p>
        </p:txBody>
      </p:sp>
      <p:sp>
        <p:nvSpPr>
          <p:cNvPr id="33" name="Text 23"/>
          <p:cNvSpPr txBox="1"/>
          <p:nvPr/>
        </p:nvSpPr>
        <p:spPr>
          <a:xfrm>
            <a:off x="5257800" y="373075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contractor was quoted before, at what price, and whether it was won. The datasheets and e-mails stay with the quote.</a:t>
            </a:r>
            <a:endParaRPr lang="en-US" sz="1150" dirty="0"/>
          </a:p>
        </p:txBody>
      </p:sp>
      <p:sp>
        <p:nvSpPr>
          <p:cNvPr id="34" name="Text 24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BPMSquare · Business OS  ·  prepared for Big Blue, Doha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engine: landed cost plus margin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price, freight, duty, handling and a margin band per product family — set once, applied to every quote.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361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click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84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every line of the quote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46304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5361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Floor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084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below the margin floor cannot be sent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5361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084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price shows how it was built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457200" cy="457200"/>
          </a:xfrm>
          <a:prstGeom prst="ellipse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898648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051560" y="27706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to the manufacturer, from the line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051560" y="304495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confirmed cost for a grade or size? Send the request from the quote line; the reply becomes the cost and the quote re-prices.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663440" y="2788920"/>
            <a:ext cx="457200" cy="457200"/>
          </a:xfrm>
          <a:prstGeom prst="ellipse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898648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257800" y="27706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bands by quantity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5257800" y="304495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volume, tighter margin — as a rule, not a negotiation. Sales sees the price; management sees the margin.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57200" y="3749040"/>
            <a:ext cx="457200" cy="457200"/>
          </a:xfrm>
          <a:prstGeom prst="ellipse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858768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51560" y="37307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are visible, never silent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1051560" y="400507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 can still type a price. It is marked as manual, and anything under the floor waits for approval.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663440" y="3749040"/>
            <a:ext cx="457200" cy="457200"/>
          </a:xfrm>
          <a:prstGeom prst="ellipse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3858768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257800" y="37307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from your ERP or entered here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5257800" y="400507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prices and quantity breaks live on the product; keep them by hand or sync them from your accounting system.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BPMSquare · Business OS  ·  prepared for Big Blue, Doha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tender and enquiry on one board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→ Propose → Negotiate → Won, with the value, the probability and the owner on the card.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57200" cy="457200"/>
          </a:xfrm>
          <a:prstGeom prst="ellipse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642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53619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pipeline, weighted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81051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value and weighted value at the top. Filter by owner, by contractor, by expected close.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44144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231343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knows the customer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051560" y="258775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 carries its team — sales, technical, and the person who knows the contractor. Notes and mentions on the record.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21868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309067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deal to quote in one click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051560" y="336499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copies the lines and re-prices them on the quote date. The deal's value follows its latest quote.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57200" y="3886200"/>
            <a:ext cx="457200" cy="457200"/>
          </a:xfrm>
          <a:prstGeom prst="ellipse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99592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386791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Won, lost, and why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051560" y="414223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with a reason — price, competitor, timing. Loss reasons aggregate so the pattern is visible, not anecdotal.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669280" y="1600200"/>
            <a:ext cx="685800" cy="29260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742432" y="169164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852160" y="16276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</a:t>
            </a:r>
            <a:endParaRPr lang="en-US" sz="750" dirty="0"/>
          </a:p>
        </p:txBody>
      </p:sp>
      <p:sp>
        <p:nvSpPr>
          <p:cNvPr id="23" name="Shape 17"/>
          <p:cNvSpPr/>
          <p:nvPr/>
        </p:nvSpPr>
        <p:spPr>
          <a:xfrm>
            <a:off x="5724144" y="1965960"/>
            <a:ext cx="576072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779008" y="2048256"/>
            <a:ext cx="365760" cy="54864"/>
          </a:xfrm>
          <a:prstGeom prst="rect">
            <a:avLst/>
          </a:prstGeom>
          <a:solidFill>
            <a:srgbClr val="C9D3DF"/>
          </a:solidFill>
          <a:ln w="12700">
            <a:solidFill>
              <a:srgbClr val="C9D3D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779008" y="2157984"/>
            <a:ext cx="256032" cy="54864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779008" y="2304288"/>
            <a:ext cx="20116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724144" y="2532888"/>
            <a:ext cx="576072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779008" y="2615184"/>
            <a:ext cx="365760" cy="54864"/>
          </a:xfrm>
          <a:prstGeom prst="rect">
            <a:avLst/>
          </a:prstGeom>
          <a:solidFill>
            <a:srgbClr val="C9D3DF"/>
          </a:solidFill>
          <a:ln w="12700">
            <a:solidFill>
              <a:srgbClr val="C9D3DF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779008" y="2724912"/>
            <a:ext cx="256032" cy="54864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779008" y="2871216"/>
            <a:ext cx="20116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446520" y="1600200"/>
            <a:ext cx="685800" cy="29260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519672" y="169164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629400" y="16276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750" dirty="0"/>
          </a:p>
        </p:txBody>
      </p:sp>
      <p:sp>
        <p:nvSpPr>
          <p:cNvPr id="34" name="Shape 28"/>
          <p:cNvSpPr/>
          <p:nvPr/>
        </p:nvSpPr>
        <p:spPr>
          <a:xfrm>
            <a:off x="6501384" y="1965960"/>
            <a:ext cx="576072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556248" y="2048256"/>
            <a:ext cx="365760" cy="54864"/>
          </a:xfrm>
          <a:prstGeom prst="rect">
            <a:avLst/>
          </a:prstGeom>
          <a:solidFill>
            <a:srgbClr val="C9D3DF"/>
          </a:solidFill>
          <a:ln w="12700">
            <a:solidFill>
              <a:srgbClr val="C9D3DF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6556248" y="2157984"/>
            <a:ext cx="256032" cy="54864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556248" y="2304288"/>
            <a:ext cx="20116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501384" y="2532888"/>
            <a:ext cx="576072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6556248" y="2615184"/>
            <a:ext cx="365760" cy="54864"/>
          </a:xfrm>
          <a:prstGeom prst="rect">
            <a:avLst/>
          </a:prstGeom>
          <a:solidFill>
            <a:srgbClr val="C9D3DF"/>
          </a:solidFill>
          <a:ln w="12700">
            <a:solidFill>
              <a:srgbClr val="C9D3DF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6556248" y="2724912"/>
            <a:ext cx="256032" cy="54864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6556248" y="2871216"/>
            <a:ext cx="20116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6501384" y="3099816"/>
            <a:ext cx="576072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6556248" y="3182112"/>
            <a:ext cx="365760" cy="54864"/>
          </a:xfrm>
          <a:prstGeom prst="rect">
            <a:avLst/>
          </a:prstGeom>
          <a:solidFill>
            <a:srgbClr val="C9D3DF"/>
          </a:solidFill>
          <a:ln w="12700">
            <a:solidFill>
              <a:srgbClr val="C9D3DF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6556248" y="3291840"/>
            <a:ext cx="256032" cy="54864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6556248" y="3438144"/>
            <a:ext cx="20116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7223760" y="1600200"/>
            <a:ext cx="685800" cy="29260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7296912" y="169164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7406640" y="16276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</a:t>
            </a:r>
            <a:endParaRPr lang="en-US" sz="750" dirty="0"/>
          </a:p>
        </p:txBody>
      </p:sp>
      <p:sp>
        <p:nvSpPr>
          <p:cNvPr id="49" name="Shape 43"/>
          <p:cNvSpPr/>
          <p:nvPr/>
        </p:nvSpPr>
        <p:spPr>
          <a:xfrm>
            <a:off x="7278624" y="1965960"/>
            <a:ext cx="576072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7333488" y="2048256"/>
            <a:ext cx="365760" cy="54864"/>
          </a:xfrm>
          <a:prstGeom prst="rect">
            <a:avLst/>
          </a:prstGeom>
          <a:solidFill>
            <a:srgbClr val="C9D3DF"/>
          </a:solidFill>
          <a:ln w="12700">
            <a:solidFill>
              <a:srgbClr val="C9D3DF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7333488" y="2157984"/>
            <a:ext cx="256032" cy="54864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7333488" y="2304288"/>
            <a:ext cx="20116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8001000" y="1600200"/>
            <a:ext cx="685800" cy="29260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8074152" y="16916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8183880" y="16276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</a:t>
            </a:r>
            <a:endParaRPr lang="en-US" sz="750" dirty="0"/>
          </a:p>
        </p:txBody>
      </p:sp>
      <p:sp>
        <p:nvSpPr>
          <p:cNvPr id="56" name="Shape 50"/>
          <p:cNvSpPr/>
          <p:nvPr/>
        </p:nvSpPr>
        <p:spPr>
          <a:xfrm>
            <a:off x="8055864" y="1965960"/>
            <a:ext cx="576072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8110728" y="2048256"/>
            <a:ext cx="365760" cy="54864"/>
          </a:xfrm>
          <a:prstGeom prst="rect">
            <a:avLst/>
          </a:prstGeom>
          <a:solidFill>
            <a:srgbClr val="C9D3DF"/>
          </a:solidFill>
          <a:ln w="12700">
            <a:solidFill>
              <a:srgbClr val="C9D3DF"/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8110728" y="2157984"/>
            <a:ext cx="256032" cy="54864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8110728" y="2304288"/>
            <a:ext cx="20116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5669280" y="45720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board</a:t>
            </a:r>
            <a:endParaRPr lang="en-US" sz="900" dirty="0"/>
          </a:p>
        </p:txBody>
      </p:sp>
      <p:sp>
        <p:nvSpPr>
          <p:cNvPr id="61" name="Text 55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BPMSquare · Business OS  ·  prepared for Big Blue, Doha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the order: deliveries, site teams, payroll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of the business the customer never sees, closed cleanly every month.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8928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7647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jobs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0391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 order per delivery: team, date, site, the customer's sign-off on the phone. Invoice from the quote when it's done.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7830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89280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7647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app with geofence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20391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 and site staff punch in on their own phone, at the location, with a selfie. Records are tamper-evident.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35584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32278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Rosters, overtime, leave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280160" y="350215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and Friday week-offs, overtime approved by a supervisor, leave requests in one flow. Night and cross-midnight shifts handled.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63440" y="301752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92040" y="32461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35584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86400" y="32278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in one export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0" y="350215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Hours, overtime and leave per employee for payroll. Corrections go through approval, never an edited spreadsheet.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BPMSquare · Business OS  ·  prepared for Big Blue, Doha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A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Nova: AI where it saves real time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proposes, your people decide. Prices and ratings are always explainable — never a black box.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152233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9385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8105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job, get the lines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0848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"Dowel bars for two expansion joints, 40 m each" becomes line items to check and price.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60020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152233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8288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93852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8105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data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20848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did we quote Contractor X for SS rebars this year?" — answered from your records, through the assistant or the API.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152233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35584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32278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timeline on every record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280160" y="35021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with @mentions, an inbox, and ⌘K to jump anywhere or create anything.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63440" y="301752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152233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92040" y="32461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35584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86400" y="32278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anything, get a record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0" y="35021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a contractor's e-mail or paste a spec sheet; Nova drafts the account, product or lead for you to confirm.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BPMSquare · Business OS  ·  prepared for Big Blue, Doha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 four weeks, on Big Blue's own data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module at a time, validated by your team at each step.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1600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on your domain, users and roles. Import the product catalogue, contractor accounts and open enquiries from your spreadsheets.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60020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468880"/>
            <a:ext cx="1600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Landed-cost rules for rebars, dowels and bearings; quote template on your letterhead; the first real quotes go out.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60020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468880"/>
            <a:ext cx="1600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tenders on the board; the attendance app on the yard and site teams' phones.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60020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live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468880"/>
            <a:ext cx="1600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the first month-end close, and the Qatar roadmap items scoped and dated.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Commercials: per-user, per-module subscription. The pilot is a fixed fee, credited against the first year.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BPMSquare · Business OS  ·  prepared for Big Blue, Doha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 us one real BOQ. We'll quote it in front of you.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45-minute session on your products, your prices and your contractors. No slides — the working system.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383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bpmsquare.com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BPMSquare · Business OS  ·  prepared for Big Blue, Doha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1414</Words>
  <Application>Microsoft Office PowerPoint</Application>
  <PresentationFormat>On-screen Show (16:9)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BPMSquare for Big Blue</dc:title>
  <dc:subject>PptxGenJS Presentation</dc:subject>
  <dc:creator>BPMSquare</dc:creator>
  <cp:lastModifiedBy>Abdul Nandalpad</cp:lastModifiedBy>
  <cp:revision>4</cp:revision>
  <dcterms:created xsi:type="dcterms:W3CDTF">2026-09-06T13:06:41Z</dcterms:created>
  <dcterms:modified xsi:type="dcterms:W3CDTF">2026-09-06T13:17:29Z</dcterms:modified>
</cp:coreProperties>
</file>